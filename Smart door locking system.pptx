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4"/>
  </p:sldMasterIdLst>
  <p:notesMasterIdLst>
    <p:notesMasterId r:id="rId14"/>
  </p:notesMasterIdLst>
  <p:sldIdLst>
    <p:sldId id="271" r:id="rId5"/>
    <p:sldId id="300" r:id="rId6"/>
    <p:sldId id="306" r:id="rId7"/>
    <p:sldId id="307" r:id="rId8"/>
    <p:sldId id="308" r:id="rId9"/>
    <p:sldId id="309" r:id="rId10"/>
    <p:sldId id="312" r:id="rId11"/>
    <p:sldId id="30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7" autoAdjust="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96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9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41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6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26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9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17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88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76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43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4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6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2/28/2026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675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075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11D51461-FD58-D2EA-82C5-D24B223E11B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866BB4-E3D7-F19E-E650-A131809A3E35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CE62-6178-6CD9-9BAF-0352AAC72C8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CD6443C-48CA-7267-C051-C7BB19E8E0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D86357-3811-E118-1A2B-C6098472960B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1036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hyperlink" Target="https://openclipart.org/detail/104197/calendrier--calendar-by-lmproulx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04197/calendrier--calendar-by-lmproulx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04197/calendrier--calendar-by-lmproulx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6263" y="23628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3688390" y="652764"/>
            <a:ext cx="4570738" cy="678327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6" name="Google Shape;476;p16"/>
          <p:cNvSpPr txBox="1"/>
          <p:nvPr/>
        </p:nvSpPr>
        <p:spPr>
          <a:xfrm>
            <a:off x="1216152" y="1927634"/>
            <a:ext cx="941832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PROTOTYPE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Door Unlocking System</a:t>
            </a:r>
            <a:r>
              <a:rPr lang="en-US" sz="40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3715129" y="612744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Agency FB" panose="020B0503020202020204" pitchFamily="34" charset="0"/>
                <a:cs typeface="Poppins" pitchFamily="2" charset="77"/>
              </a:rPr>
              <a:t>Department of ECE 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6401811" y="4152241"/>
            <a:ext cx="4906328" cy="2522682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PRESENTED BY:-</a:t>
            </a:r>
          </a:p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K VENKATA SAI(2300040048)</a:t>
            </a:r>
          </a:p>
          <a:p>
            <a:pPr lvl="0"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R HARSHA VARDHAN(2300040041)</a:t>
            </a:r>
          </a:p>
          <a:p>
            <a:pPr lvl="0"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D MANI SHANKAR(2300040056)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374" y="183077"/>
            <a:ext cx="2509863" cy="1061599"/>
          </a:xfrm>
          <a:prstGeom prst="rect">
            <a:avLst/>
          </a:prstGeom>
          <a:noFill/>
        </p:spPr>
      </p:pic>
      <p:sp>
        <p:nvSpPr>
          <p:cNvPr id="3" name="Google Shape;502;p17">
            <a:extLst>
              <a:ext uri="{FF2B5EF4-FFF2-40B4-BE49-F238E27FC236}">
                <a16:creationId xmlns:a16="http://schemas.microsoft.com/office/drawing/2014/main" id="{69EB8789-8FFB-3760-54FE-61C28F603F16}"/>
              </a:ext>
            </a:extLst>
          </p:cNvPr>
          <p:cNvSpPr/>
          <p:nvPr/>
        </p:nvSpPr>
        <p:spPr>
          <a:xfrm>
            <a:off x="617885" y="4152241"/>
            <a:ext cx="4906328" cy="2522682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GUIDED BY:-</a:t>
            </a:r>
          </a:p>
          <a:p>
            <a:pPr lvl="0" algn="ctr"/>
            <a:r>
              <a:rPr lang="en-US" sz="2400" dirty="0" err="1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Dr.N.PRABAKARAN</a:t>
            </a:r>
            <a:b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Associate Professor</a:t>
            </a:r>
            <a:b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Dept of ECE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114563" y="381453"/>
            <a:ext cx="384671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Objective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609" y="116207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1991" y="775530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3730" y="172075"/>
            <a:ext cx="1990725" cy="600076"/>
          </a:xfrm>
          <a:prstGeom prst="rect">
            <a:avLst/>
          </a:prstGeom>
          <a:noFill/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/>
        </p:nvSpPr>
        <p:spPr>
          <a:xfrm>
            <a:off x="1918665" y="1232730"/>
            <a:ext cx="7720235" cy="4481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FDF1180-A8DA-9BC5-3609-BDC53A0ECB2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60021" y="4423618"/>
            <a:ext cx="1055356" cy="1061994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C1E6B17-27B6-F654-A1DE-CC9185B6A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513" y="2974581"/>
            <a:ext cx="9385736" cy="56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3B2839-B883-A0EA-36E3-AB702FE3628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92453" y="2011470"/>
            <a:ext cx="1045875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design and develop a </a:t>
            </a:r>
            <a:r>
              <a:rPr lang="en-US" sz="2400" b="1" dirty="0"/>
              <a:t>Smart Door Unlocking System using ESP32-CAM</a:t>
            </a:r>
            <a:r>
              <a:rPr lang="en-US" sz="2400" dirty="0"/>
              <a:t> that enhances security by enabling </a:t>
            </a:r>
            <a:r>
              <a:rPr lang="en-US" sz="2400" b="1" dirty="0"/>
              <a:t>face recognition–based access control</a:t>
            </a:r>
            <a:r>
              <a:rPr lang="en-US" sz="2400" dirty="0"/>
              <a:t>, real-time image capture, and remote monitoring through Wi-Fi connectivity.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</a:t>
            </a:r>
            <a:r>
              <a:rPr lang="en-US" sz="2400" b="1" dirty="0"/>
              <a:t>ESP32-CAM</a:t>
            </a:r>
            <a:r>
              <a:rPr lang="en-US" sz="2400" dirty="0"/>
              <a:t> for capturing and processing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implement </a:t>
            </a:r>
            <a:r>
              <a:rPr lang="en-US" sz="2400" b="1" dirty="0"/>
              <a:t>face detection and recognition</a:t>
            </a:r>
            <a:r>
              <a:rPr lang="en-US" sz="2400" dirty="0"/>
              <a:t> for authorized user identification.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control a </a:t>
            </a:r>
            <a:r>
              <a:rPr lang="en-US" sz="2400" b="1" dirty="0"/>
              <a:t>servo motor</a:t>
            </a:r>
            <a:r>
              <a:rPr lang="en-US" sz="2400" dirty="0"/>
              <a:t> for automatic door unlocking.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enable </a:t>
            </a:r>
            <a:r>
              <a:rPr lang="en-US" sz="2400" b="1" dirty="0"/>
              <a:t>Wi-Fi-based remote access and monitoring</a:t>
            </a:r>
            <a:r>
              <a:rPr lang="en-US" sz="2400" dirty="0"/>
              <a:t> through a web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store and manage authorized user data securely.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reduce manual key usage and improve security with a smart embedded system.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2630" y="429977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Problem Statement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094" y="820675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6301" y="820675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97974" y="152815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BB7335-B363-2010-15DF-274D9FE5DC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07702" y="5172491"/>
            <a:ext cx="1055356" cy="106199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9ECAE0B-B3B4-1B56-54AB-4D5A7BCBD37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93336" y="2528006"/>
            <a:ext cx="1042219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Traditional door locks using keys or passwords are not fully secure and can be lost, stolen, or misused. There is a need for a smart, secure, and contactless access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aims to develop a smart door unlocking system using </a:t>
            </a:r>
            <a:r>
              <a:rPr lang="en-US" sz="2800" b="1" dirty="0"/>
              <a:t>ESP32-CAM</a:t>
            </a:r>
            <a:r>
              <a:rPr lang="en-US" sz="2800" dirty="0"/>
              <a:t> that provides face recognition–based access control with automatic door unlocking and Wi-Fi monitoring.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69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971" y="139007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2798" y="1249628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111687" y="95729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Hardware &amp; Software Tools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93287" y="265471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C05DA6-F906-58A0-B783-9F6EBCD019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12300" y="4799122"/>
            <a:ext cx="1055356" cy="106199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CE4D1C9-D307-D994-02C3-EC7ED841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84" y="8080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144DA-13DA-BA33-31A4-C120EFABAFA5}"/>
              </a:ext>
            </a:extLst>
          </p:cNvPr>
          <p:cNvSpPr txBox="1"/>
          <p:nvPr/>
        </p:nvSpPr>
        <p:spPr>
          <a:xfrm>
            <a:off x="1704411" y="1991770"/>
            <a:ext cx="437967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🔌 Hardware Tools /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ESP32-CAM</a:t>
            </a:r>
            <a:r>
              <a:rPr lang="en-IN" sz="2000" dirty="0"/>
              <a:t> – Main microcontroller with 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FTDI Programmer – For uploading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Servo Motor  – For door locking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Jumper Wires – For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Breadboard – For circuit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5V Power Supply – To power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Push Button – For reset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Buzzer / LED – For status indication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6559D-087B-139F-7188-4782023E92AF}"/>
              </a:ext>
            </a:extLst>
          </p:cNvPr>
          <p:cNvSpPr txBox="1"/>
          <p:nvPr/>
        </p:nvSpPr>
        <p:spPr>
          <a:xfrm>
            <a:off x="6097524" y="1997814"/>
            <a:ext cx="44952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💻 Software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Arduino IDE</a:t>
            </a:r>
            <a:r>
              <a:rPr lang="en-IN" sz="1800" dirty="0"/>
              <a:t> – For coding and uploading program</a:t>
            </a:r>
            <a:br>
              <a:rPr lang="en-IN" sz="1800" dirty="0"/>
            </a:b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ESP32 Board Package – For ESP32 support in Arduino</a:t>
            </a:r>
            <a:br>
              <a:rPr lang="en-IN" sz="1800" dirty="0"/>
            </a:b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Embedded C / Arduino Programming Language – For writing code</a:t>
            </a:r>
            <a:br>
              <a:rPr lang="en-IN" sz="1800" dirty="0"/>
            </a:b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Web Browser – For accessing live camera stream</a:t>
            </a:r>
            <a:br>
              <a:rPr lang="en-IN" sz="1800" dirty="0"/>
            </a:b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Face Recognition Library (ESP32 library) – For user authentication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9396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872261" y="600076"/>
            <a:ext cx="4007404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Block Diagram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080" y="193040"/>
            <a:ext cx="1990725" cy="600076"/>
          </a:xfrm>
          <a:prstGeom prst="rect">
            <a:avLst/>
          </a:prstGeom>
          <a:noFill/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A57D30C0-AF20-FD19-A44F-ECD0FC971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601" y="1767305"/>
            <a:ext cx="6948797" cy="463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3727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4125651" y="600076"/>
            <a:ext cx="3376361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Methodology / Working</a:t>
            </a:r>
            <a:endParaRPr lang="en-US" sz="1600" dirty="0">
              <a:latin typeface="Agency FB" panose="020B0503020202020204" pitchFamily="34" charset="0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240" y="205560"/>
            <a:ext cx="1990725" cy="600076"/>
          </a:xfrm>
          <a:prstGeom prst="rect">
            <a:avLst/>
          </a:prstGeom>
          <a:noFill/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CB9E9C0-E14C-CC4D-2275-467699CF828F}"/>
              </a:ext>
            </a:extLst>
          </p:cNvPr>
          <p:cNvSpPr/>
          <p:nvPr/>
        </p:nvSpPr>
        <p:spPr>
          <a:xfrm>
            <a:off x="793790" y="659249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endParaRPr lang="en-US" sz="1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2E81750-DFDC-B654-85C7-AC7DF30BEBC8}"/>
              </a:ext>
            </a:extLst>
          </p:cNvPr>
          <p:cNvSpPr/>
          <p:nvPr/>
        </p:nvSpPr>
        <p:spPr>
          <a:xfrm>
            <a:off x="1771888" y="161603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 dirty="0"/>
              <a:t>Image Capture: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D3F182E-E1E4-6A1F-25D1-DF0D7B2539CE}"/>
              </a:ext>
            </a:extLst>
          </p:cNvPr>
          <p:cNvSpPr/>
          <p:nvPr/>
        </p:nvSpPr>
        <p:spPr>
          <a:xfrm>
            <a:off x="1771888" y="1958221"/>
            <a:ext cx="120647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dirty="0"/>
              <a:t>The camera of </a:t>
            </a:r>
            <a:r>
              <a:rPr lang="en-US" sz="1600" b="1" dirty="0"/>
              <a:t>ESP32-CAM</a:t>
            </a:r>
            <a:r>
              <a:rPr lang="en-US" sz="1600" dirty="0"/>
              <a:t> captures the live image when a person stands near the door.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E01C5B7-6480-03C2-AAEF-42398235E57B}"/>
              </a:ext>
            </a:extLst>
          </p:cNvPr>
          <p:cNvSpPr/>
          <p:nvPr/>
        </p:nvSpPr>
        <p:spPr>
          <a:xfrm>
            <a:off x="1771888" y="263675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 dirty="0"/>
              <a:t>Face Detection &amp; Recognition: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68367BF-4F74-9DCA-4A3A-CD46BD4D6622}"/>
              </a:ext>
            </a:extLst>
          </p:cNvPr>
          <p:cNvSpPr/>
          <p:nvPr/>
        </p:nvSpPr>
        <p:spPr>
          <a:xfrm>
            <a:off x="1771888" y="2938801"/>
            <a:ext cx="9511808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/>
              <a:t>The captured image is processed using an embedded face recognition algorithm to detect and compare</a:t>
            </a:r>
            <a:br>
              <a:rPr lang="en-US" sz="1600" dirty="0"/>
            </a:br>
            <a:r>
              <a:rPr lang="en-US" sz="1600" dirty="0"/>
              <a:t> with stored authorized faces.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29209B2-0A36-1173-A7B6-C76951D730BB}"/>
              </a:ext>
            </a:extLst>
          </p:cNvPr>
          <p:cNvSpPr/>
          <p:nvPr/>
        </p:nvSpPr>
        <p:spPr>
          <a:xfrm>
            <a:off x="1771888" y="365748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 dirty="0"/>
              <a:t>Authentication:</a:t>
            </a:r>
            <a:endParaRPr lang="en-US" sz="1600" dirty="0"/>
          </a:p>
          <a:p>
            <a:pPr marL="0" indent="0" algn="l">
              <a:lnSpc>
                <a:spcPts val="2050"/>
              </a:lnSpc>
              <a:buNone/>
            </a:pP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55554D2-0E16-AE6E-64BF-658D3E9E6A83}"/>
              </a:ext>
            </a:extLst>
          </p:cNvPr>
          <p:cNvSpPr/>
          <p:nvPr/>
        </p:nvSpPr>
        <p:spPr>
          <a:xfrm>
            <a:off x="1332976" y="3917631"/>
            <a:ext cx="12064722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If the face matches → Access Granted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If the face does not match → Access Denied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8089377-2845-0CCE-7DE6-86E1DB862A85}"/>
              </a:ext>
            </a:extLst>
          </p:cNvPr>
          <p:cNvSpPr/>
          <p:nvPr/>
        </p:nvSpPr>
        <p:spPr>
          <a:xfrm>
            <a:off x="1771888" y="46782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/>
              <a:t>Door Control: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B3E17CB-89CC-7A1A-B328-51189E78BE77}"/>
              </a:ext>
            </a:extLst>
          </p:cNvPr>
          <p:cNvSpPr/>
          <p:nvPr/>
        </p:nvSpPr>
        <p:spPr>
          <a:xfrm>
            <a:off x="1771888" y="4971908"/>
            <a:ext cx="120647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dirty="0"/>
              <a:t>A servo motor / solenoid lock is activated to unlock the door for authorized users.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FD87DC41-F48F-A185-8FBF-8BB32688531A}"/>
              </a:ext>
            </a:extLst>
          </p:cNvPr>
          <p:cNvSpPr/>
          <p:nvPr/>
        </p:nvSpPr>
        <p:spPr>
          <a:xfrm>
            <a:off x="1774301" y="5692186"/>
            <a:ext cx="232433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 dirty="0"/>
              <a:t>Notification &amp; Monitoring: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3362A56E-A2A1-CB6B-8326-E44ADF4DBA4E}"/>
              </a:ext>
            </a:extLst>
          </p:cNvPr>
          <p:cNvSpPr/>
          <p:nvPr/>
        </p:nvSpPr>
        <p:spPr>
          <a:xfrm>
            <a:off x="1771888" y="5965980"/>
            <a:ext cx="120647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/>
              <a:t>The system streams video via Wi-Fi and can display status through LED/Buzzer alerts.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D6D44A2-EBFB-1652-63E9-9469932DE581}"/>
              </a:ext>
            </a:extLst>
          </p:cNvPr>
          <p:cNvSpPr/>
          <p:nvPr/>
        </p:nvSpPr>
        <p:spPr>
          <a:xfrm>
            <a:off x="1771888" y="671964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259885AE-7974-D2B8-6D0B-2ECC6B865B2A}"/>
              </a:ext>
            </a:extLst>
          </p:cNvPr>
          <p:cNvSpPr/>
          <p:nvPr/>
        </p:nvSpPr>
        <p:spPr>
          <a:xfrm>
            <a:off x="1771888" y="7061835"/>
            <a:ext cx="120647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63977BC-832B-423B-0E1C-1ABC481E05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8" y="1569988"/>
            <a:ext cx="724436" cy="7244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D28182D-A48B-3E7F-039E-C13B893EDC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4" y="2653868"/>
            <a:ext cx="614194" cy="6141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DA7749-0537-7F43-E207-7FC9B06213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8" y="3513739"/>
            <a:ext cx="724436" cy="72443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18E79A-90F0-209D-868E-EAA6E4F704D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9" y="4624332"/>
            <a:ext cx="792114" cy="79211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9789D9D-5D40-982F-13BD-F5D9686C4D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13" y="5641843"/>
            <a:ext cx="632181" cy="63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659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4406642" y="600076"/>
            <a:ext cx="271251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Flowchart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080" y="190563"/>
            <a:ext cx="1990725" cy="600076"/>
          </a:xfrm>
          <a:prstGeom prst="rect">
            <a:avLst/>
          </a:prstGeom>
          <a:noFill/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256B4471-16A9-37FA-9B7F-5FE633478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656" y="1536192"/>
            <a:ext cx="5833872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26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560" y="206146"/>
            <a:ext cx="1990725" cy="600076"/>
          </a:xfrm>
          <a:prstGeom prst="rect">
            <a:avLst/>
          </a:prstGeom>
          <a:noFill/>
        </p:spPr>
      </p:pic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740410" y="600076"/>
            <a:ext cx="4568940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Conclusion</a:t>
            </a:r>
            <a:endParaRPr lang="en-US" sz="2400" dirty="0"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7F94D-869C-3AC4-BE0F-ACE755AE60CB}"/>
              </a:ext>
            </a:extLst>
          </p:cNvPr>
          <p:cNvSpPr txBox="1"/>
          <p:nvPr/>
        </p:nvSpPr>
        <p:spPr>
          <a:xfrm>
            <a:off x="1088136" y="2410588"/>
            <a:ext cx="98277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Smart Door Unlocking System using </a:t>
            </a:r>
            <a:r>
              <a:rPr lang="en-US" b="1" dirty="0"/>
              <a:t>ESP32-CAM</a:t>
            </a:r>
            <a:r>
              <a:rPr lang="en-US" dirty="0"/>
              <a:t> successfully provides a secure, automated, and contactless access control solution. By integrating face recognition technology with Wi-Fi connectivity, the system enhances security while reducing dependence on traditional keys and passwords.</a:t>
            </a:r>
          </a:p>
          <a:p>
            <a:r>
              <a:rPr lang="en-US" dirty="0"/>
              <a:t>The project demonstrates how IoT-based embedded systems can be used to improve safety and convenience in homes, offices, and institutions. It is cost-effective, reliable, and suitable for real-time monitoring and smart security applications.</a:t>
            </a:r>
          </a:p>
          <a:p>
            <a:r>
              <a:rPr lang="en-US" dirty="0"/>
              <a:t>Overall, the system achieves its objective of providing intelligent, modern, and efficient door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lose-up of water droplet on a leaf">
            <a:extLst>
              <a:ext uri="{FF2B5EF4-FFF2-40B4-BE49-F238E27FC236}">
                <a16:creationId xmlns:a16="http://schemas.microsoft.com/office/drawing/2014/main" id="{BE1F3FF1-7490-5AF2-82FC-F180A7F089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2" r="7802"/>
          <a:stretch/>
        </p:blipFill>
        <p:spPr>
          <a:xfrm>
            <a:off x="0" y="3250970"/>
            <a:ext cx="5411864" cy="3607029"/>
          </a:xfrm>
          <a:prstGeom prst="rect">
            <a:avLst/>
          </a:prstGeom>
        </p:spPr>
      </p:pic>
      <p:pic>
        <p:nvPicPr>
          <p:cNvPr id="3" name="Picture 2" descr="Abstract render of glass nodes and mesh">
            <a:extLst>
              <a:ext uri="{FF2B5EF4-FFF2-40B4-BE49-F238E27FC236}">
                <a16:creationId xmlns:a16="http://schemas.microsoft.com/office/drawing/2014/main" id="{A8E88C5D-D746-457B-2977-4C697E77A8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" b="537"/>
          <a:stretch/>
        </p:blipFill>
        <p:spPr>
          <a:xfrm>
            <a:off x="6668801" y="0"/>
            <a:ext cx="5523199" cy="3607029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1988658" y="1987061"/>
            <a:ext cx="7920111" cy="288387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gency FB" panose="020B0503020202020204" pitchFamily="34" charset="0"/>
                <a:cs typeface="Poppins" pitchFamily="2" charset="77"/>
              </a:rPr>
              <a:t>THANK YOU</a:t>
            </a: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PROTOTYPE</a:t>
            </a: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39187" y="2812497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2519431157564F9201AF4BC2FEACD3" ma:contentTypeVersion="6" ma:contentTypeDescription="Create a new document." ma:contentTypeScope="" ma:versionID="8073f79857fadeec545986a1825fc259">
  <xsd:schema xmlns:xsd="http://www.w3.org/2001/XMLSchema" xmlns:xs="http://www.w3.org/2001/XMLSchema" xmlns:p="http://schemas.microsoft.com/office/2006/metadata/properties" xmlns:ns3="2040adea-6839-447d-bd0d-6d532fe2a037" targetNamespace="http://schemas.microsoft.com/office/2006/metadata/properties" ma:root="true" ma:fieldsID="a6740e22eac9a6061b8ba45743d3bc8b" ns3:_="">
    <xsd:import namespace="2040adea-6839-447d-bd0d-6d532fe2a0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0adea-6839-447d-bd0d-6d532fe2a0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40adea-6839-447d-bd0d-6d532fe2a03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CC00CD-EA79-4086-89DF-CE795347B1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40adea-6839-447d-bd0d-6d532fe2a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http://www.w3.org/XML/1998/namespace"/>
    <ds:schemaRef ds:uri="http://purl.org/dc/elements/1.1/"/>
    <ds:schemaRef ds:uri="2040adea-6839-447d-bd0d-6d532fe2a037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728</TotalTime>
  <Words>543</Words>
  <Application>Microsoft Office PowerPoint</Application>
  <PresentationFormat>Widescreen</PresentationFormat>
  <Paragraphs>64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Agency FB</vt:lpstr>
      <vt:lpstr>Arial</vt:lpstr>
      <vt:lpstr>Calibri</vt:lpstr>
      <vt:lpstr>Calibri Light</vt:lpstr>
      <vt:lpstr>Times New Roman</vt:lpstr>
      <vt:lpstr>Tw Cen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shankar darapureddy</cp:lastModifiedBy>
  <cp:revision>57</cp:revision>
  <dcterms:created xsi:type="dcterms:W3CDTF">2020-02-08T09:57:44Z</dcterms:created>
  <dcterms:modified xsi:type="dcterms:W3CDTF">2026-02-28T14:30:48Z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0x010100A12519431157564F9201AF4BC2FEACD3</vt:lpwstr>
  </property>
</Properties>
</file>